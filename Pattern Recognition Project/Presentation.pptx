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Cormorant Garamond Bold Italics" charset="1" panose="00000800000000000000"/>
      <p:regular r:id="rId23"/>
    </p:embeddedFont>
    <p:embeddedFont>
      <p:font typeface="Quicksand" charset="1" panose="00000000000000000000"/>
      <p:regular r:id="rId24"/>
    </p:embeddedFont>
    <p:embeddedFont>
      <p:font typeface="Quicksand Bold" charset="1" panose="00000000000000000000"/>
      <p:regular r:id="rId25"/>
    </p:embeddedFont>
    <p:embeddedFont>
      <p:font typeface="Cormorant Garamond Bold" charset="1" panose="000008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xgboost.readthedocs.io/en/stable/" TargetMode="External" Type="http://schemas.openxmlformats.org/officeDocument/2006/relationships/hyperlink"/><Relationship Id="rId3" Target="https://scikit-learn.org/stable/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3764" y="1627416"/>
            <a:ext cx="16229942" cy="4376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11"/>
              </a:lnSpc>
              <a:spcBef>
                <a:spcPct val="0"/>
              </a:spcBef>
            </a:pPr>
            <a:r>
              <a:rPr lang="en-US" b="true" sz="1257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Predicting Titanic Passenger Survival</a:t>
            </a:r>
          </a:p>
        </p:txBody>
      </p:sp>
      <p:sp>
        <p:nvSpPr>
          <p:cNvPr name="AutoShape 3" id="3"/>
          <p:cNvSpPr/>
          <p:nvPr/>
        </p:nvSpPr>
        <p:spPr>
          <a:xfrm>
            <a:off x="9158735" y="9906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43764" y="9296400"/>
            <a:ext cx="8114971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618706" y="90374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52274" y="6314808"/>
            <a:ext cx="12812922" cy="83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44"/>
              </a:lnSpc>
              <a:spcBef>
                <a:spcPct val="0"/>
              </a:spcBef>
            </a:pPr>
            <a:r>
              <a:rPr lang="en-US" sz="488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CCAI312 (Pattern Recognition Project)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46742" y="807892"/>
            <a:ext cx="2968854" cy="441617"/>
          </a:xfrm>
          <a:custGeom>
            <a:avLst/>
            <a:gdLst/>
            <a:ahLst/>
            <a:cxnLst/>
            <a:rect r="r" b="b" t="t" l="l"/>
            <a:pathLst>
              <a:path h="441617" w="2968854">
                <a:moveTo>
                  <a:pt x="0" y="0"/>
                </a:moveTo>
                <a:lnTo>
                  <a:pt x="2968854" y="0"/>
                </a:lnTo>
                <a:lnTo>
                  <a:pt x="2968854" y="441616"/>
                </a:lnTo>
                <a:lnTo>
                  <a:pt x="0" y="44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92558" y="3381375"/>
            <a:ext cx="12661415" cy="339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Titanic tragedy remains one of the most famous disasters in history.</a:t>
            </a:r>
          </a:p>
          <a:p>
            <a:pPr algn="ctr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Using machine learning, we aim to predict passenger survival based on demographic and socioeconomic attributes.</a:t>
            </a:r>
          </a:p>
          <a:p>
            <a:pPr algn="ctr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This project applies algorithms like XGBoost, KNN, and Decision Tree to uncover patterns influencing survival.</a:t>
            </a:r>
          </a:p>
          <a:p>
            <a:pPr algn="ctr" marL="0" indent="0" lvl="0">
              <a:lnSpc>
                <a:spcPts val="40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5830743" y="2994639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54248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201641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304001" y="801952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26585" y="3144977"/>
            <a:ext cx="12661415" cy="500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Classification Problem:</a:t>
            </a: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just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Predict survival outcomes for passengers.</a:t>
            </a:r>
          </a:p>
          <a:p>
            <a:pPr algn="just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Input:</a:t>
            </a:r>
          </a:p>
          <a:p>
            <a:pPr algn="just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Passenger attributes (e.g., age, class, gender).</a:t>
            </a:r>
          </a:p>
          <a:p>
            <a:pPr algn="just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Output:</a:t>
            </a:r>
          </a:p>
          <a:p>
            <a:pPr algn="just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Binary classification (Survived or Not Survived).</a:t>
            </a:r>
          </a:p>
          <a:p>
            <a:pPr algn="just">
              <a:lnSpc>
                <a:spcPts val="4079"/>
              </a:lnSpc>
            </a:pPr>
          </a:p>
          <a:p>
            <a:pPr algn="just">
              <a:lnSpc>
                <a:spcPts val="4079"/>
              </a:lnSpc>
            </a:pPr>
          </a:p>
          <a:p>
            <a:pPr algn="just" marL="0" indent="0" lvl="0">
              <a:lnSpc>
                <a:spcPts val="4079"/>
              </a:lnSpc>
            </a:pPr>
          </a:p>
        </p:txBody>
      </p:sp>
      <p:sp>
        <p:nvSpPr>
          <p:cNvPr name="AutoShape 3" id="3"/>
          <p:cNvSpPr/>
          <p:nvPr/>
        </p:nvSpPr>
        <p:spPr>
          <a:xfrm>
            <a:off x="5830743" y="2994639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97880" y="754248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8304001" y="201641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801952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58733" y="4549451"/>
            <a:ext cx="594049" cy="594049"/>
          </a:xfrm>
          <a:custGeom>
            <a:avLst/>
            <a:gdLst/>
            <a:ahLst/>
            <a:cxnLst/>
            <a:rect r="r" b="b" t="t" l="l"/>
            <a:pathLst>
              <a:path h="594049" w="594049">
                <a:moveTo>
                  <a:pt x="0" y="0"/>
                </a:moveTo>
                <a:lnTo>
                  <a:pt x="594048" y="0"/>
                </a:lnTo>
                <a:lnTo>
                  <a:pt x="594048" y="594049"/>
                </a:lnTo>
                <a:lnTo>
                  <a:pt x="0" y="594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458733" y="5842397"/>
            <a:ext cx="594049" cy="601707"/>
          </a:xfrm>
          <a:custGeom>
            <a:avLst/>
            <a:gdLst/>
            <a:ahLst/>
            <a:cxnLst/>
            <a:rect r="r" b="b" t="t" l="l"/>
            <a:pathLst>
              <a:path h="601707" w="594049">
                <a:moveTo>
                  <a:pt x="0" y="0"/>
                </a:moveTo>
                <a:lnTo>
                  <a:pt x="594048" y="0"/>
                </a:lnTo>
                <a:lnTo>
                  <a:pt x="594048" y="601707"/>
                </a:lnTo>
                <a:lnTo>
                  <a:pt x="0" y="6017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458733" y="3278327"/>
            <a:ext cx="594049" cy="588648"/>
          </a:xfrm>
          <a:custGeom>
            <a:avLst/>
            <a:gdLst/>
            <a:ahLst/>
            <a:cxnLst/>
            <a:rect r="r" b="b" t="t" l="l"/>
            <a:pathLst>
              <a:path h="588648" w="594049">
                <a:moveTo>
                  <a:pt x="0" y="0"/>
                </a:moveTo>
                <a:lnTo>
                  <a:pt x="594048" y="0"/>
                </a:lnTo>
                <a:lnTo>
                  <a:pt x="594048" y="588648"/>
                </a:lnTo>
                <a:lnTo>
                  <a:pt x="0" y="588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99709"/>
            <a:ext cx="804816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Problem Description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8622" y="4099272"/>
            <a:ext cx="4210757" cy="3273864"/>
          </a:xfrm>
          <a:custGeom>
            <a:avLst/>
            <a:gdLst/>
            <a:ahLst/>
            <a:cxnLst/>
            <a:rect r="r" b="b" t="t" l="l"/>
            <a:pathLst>
              <a:path h="3273864" w="4210757">
                <a:moveTo>
                  <a:pt x="0" y="0"/>
                </a:moveTo>
                <a:lnTo>
                  <a:pt x="4210756" y="0"/>
                </a:lnTo>
                <a:lnTo>
                  <a:pt x="4210756" y="3273864"/>
                </a:lnTo>
                <a:lnTo>
                  <a:pt x="0" y="3273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2032015" y="5261002"/>
            <a:ext cx="4344915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1906603" y="7047574"/>
            <a:ext cx="4346753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864383" y="8053560"/>
            <a:ext cx="4716390" cy="0"/>
          </a:xfrm>
          <a:prstGeom prst="line">
            <a:avLst/>
          </a:prstGeom>
          <a:ln cap="flat" w="57150">
            <a:solidFill>
              <a:srgbClr val="7994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4384" y="599709"/>
            <a:ext cx="140720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Dataset Description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655712" y="4635749"/>
            <a:ext cx="5357013" cy="251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Passenger details: 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Name, Sex, Age.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Ticket information: 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Pclass, Fare, Embarked.</a:t>
            </a:r>
          </a:p>
          <a:p>
            <a:pPr algn="just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Family connections: 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SibSp, Parch.</a:t>
            </a:r>
          </a:p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8060416" y="4032597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0540" y="4254212"/>
            <a:ext cx="5348229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Missing values.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Imbalanced survival rates.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364507" y="3608417"/>
            <a:ext cx="534822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Challenges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199974"/>
            <a:ext cx="5352545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Predict: Survived (0 = No, 1 = Yes).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384" y="6556719"/>
            <a:ext cx="535254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Target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579303" y="714009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4384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9405" y="2433837"/>
            <a:ext cx="4199589" cy="6426664"/>
            <a:chOff x="0" y="0"/>
            <a:chExt cx="1106064" cy="16926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6064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06064">
                  <a:moveTo>
                    <a:pt x="94018" y="0"/>
                  </a:moveTo>
                  <a:lnTo>
                    <a:pt x="1012046" y="0"/>
                  </a:lnTo>
                  <a:cubicBezTo>
                    <a:pt x="1036981" y="0"/>
                    <a:pt x="1060895" y="9905"/>
                    <a:pt x="1078527" y="27537"/>
                  </a:cubicBezTo>
                  <a:cubicBezTo>
                    <a:pt x="1096159" y="45169"/>
                    <a:pt x="1106064" y="69083"/>
                    <a:pt x="1106064" y="94018"/>
                  </a:cubicBezTo>
                  <a:lnTo>
                    <a:pt x="1106064" y="1598601"/>
                  </a:lnTo>
                  <a:cubicBezTo>
                    <a:pt x="1106064" y="1623536"/>
                    <a:pt x="1096159" y="1647450"/>
                    <a:pt x="1078527" y="1665082"/>
                  </a:cubicBezTo>
                  <a:cubicBezTo>
                    <a:pt x="1060895" y="1682714"/>
                    <a:pt x="1036981" y="1692619"/>
                    <a:pt x="1012046" y="1692619"/>
                  </a:cubicBezTo>
                  <a:lnTo>
                    <a:pt x="94018" y="1692619"/>
                  </a:lnTo>
                  <a:cubicBezTo>
                    <a:pt x="69083" y="1692619"/>
                    <a:pt x="45169" y="1682714"/>
                    <a:pt x="27537" y="1665082"/>
                  </a:cubicBezTo>
                  <a:cubicBezTo>
                    <a:pt x="9905" y="1647450"/>
                    <a:pt x="0" y="1623536"/>
                    <a:pt x="0" y="1598601"/>
                  </a:cubicBezTo>
                  <a:lnTo>
                    <a:pt x="0" y="94018"/>
                  </a:lnTo>
                  <a:cubicBezTo>
                    <a:pt x="0" y="69083"/>
                    <a:pt x="9905" y="45169"/>
                    <a:pt x="27537" y="27537"/>
                  </a:cubicBezTo>
                  <a:cubicBezTo>
                    <a:pt x="45169" y="9905"/>
                    <a:pt x="69083" y="0"/>
                    <a:pt x="94018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106064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43358" y="2792181"/>
            <a:ext cx="2143779" cy="2143779"/>
          </a:xfrm>
          <a:custGeom>
            <a:avLst/>
            <a:gdLst/>
            <a:ahLst/>
            <a:cxnLst/>
            <a:rect r="r" b="b" t="t" l="l"/>
            <a:pathLst>
              <a:path h="2143779" w="2143779">
                <a:moveTo>
                  <a:pt x="0" y="0"/>
                </a:moveTo>
                <a:lnTo>
                  <a:pt x="2143778" y="0"/>
                </a:lnTo>
                <a:lnTo>
                  <a:pt x="2143778" y="2143779"/>
                </a:lnTo>
                <a:lnTo>
                  <a:pt x="0" y="214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9405" y="5903595"/>
            <a:ext cx="4197832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Impute missing </a:t>
            </a: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 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and </a:t>
            </a: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Fare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with medians.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Fill missing </a:t>
            </a: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Embarked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values with the mode.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6718" y="5086350"/>
            <a:ext cx="51018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Handling Missing Values</a:t>
            </a:r>
          </a:p>
        </p:txBody>
      </p:sp>
      <p:sp>
        <p:nvSpPr>
          <p:cNvPr name="AutoShape 8" id="8"/>
          <p:cNvSpPr/>
          <p:nvPr/>
        </p:nvSpPr>
        <p:spPr>
          <a:xfrm>
            <a:off x="10767060" y="9906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944411" y="2433837"/>
            <a:ext cx="4199589" cy="6426664"/>
            <a:chOff x="0" y="0"/>
            <a:chExt cx="1106064" cy="16926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6064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06064">
                  <a:moveTo>
                    <a:pt x="94018" y="0"/>
                  </a:moveTo>
                  <a:lnTo>
                    <a:pt x="1012046" y="0"/>
                  </a:lnTo>
                  <a:cubicBezTo>
                    <a:pt x="1036981" y="0"/>
                    <a:pt x="1060895" y="9905"/>
                    <a:pt x="1078527" y="27537"/>
                  </a:cubicBezTo>
                  <a:cubicBezTo>
                    <a:pt x="1096159" y="45169"/>
                    <a:pt x="1106064" y="69083"/>
                    <a:pt x="1106064" y="94018"/>
                  </a:cubicBezTo>
                  <a:lnTo>
                    <a:pt x="1106064" y="1598601"/>
                  </a:lnTo>
                  <a:cubicBezTo>
                    <a:pt x="1106064" y="1623536"/>
                    <a:pt x="1096159" y="1647450"/>
                    <a:pt x="1078527" y="1665082"/>
                  </a:cubicBezTo>
                  <a:cubicBezTo>
                    <a:pt x="1060895" y="1682714"/>
                    <a:pt x="1036981" y="1692619"/>
                    <a:pt x="1012046" y="1692619"/>
                  </a:cubicBezTo>
                  <a:lnTo>
                    <a:pt x="94018" y="1692619"/>
                  </a:lnTo>
                  <a:cubicBezTo>
                    <a:pt x="69083" y="1692619"/>
                    <a:pt x="45169" y="1682714"/>
                    <a:pt x="27537" y="1665082"/>
                  </a:cubicBezTo>
                  <a:cubicBezTo>
                    <a:pt x="9905" y="1647450"/>
                    <a:pt x="0" y="1623536"/>
                    <a:pt x="0" y="1598601"/>
                  </a:cubicBezTo>
                  <a:lnTo>
                    <a:pt x="0" y="94018"/>
                  </a:lnTo>
                  <a:cubicBezTo>
                    <a:pt x="0" y="69083"/>
                    <a:pt x="9905" y="45169"/>
                    <a:pt x="27537" y="27537"/>
                  </a:cubicBezTo>
                  <a:cubicBezTo>
                    <a:pt x="45169" y="9905"/>
                    <a:pt x="69083" y="0"/>
                    <a:pt x="94018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106064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995554" y="2938180"/>
            <a:ext cx="1972354" cy="1997780"/>
          </a:xfrm>
          <a:custGeom>
            <a:avLst/>
            <a:gdLst/>
            <a:ahLst/>
            <a:cxnLst/>
            <a:rect r="r" b="b" t="t" l="l"/>
            <a:pathLst>
              <a:path h="1997780" w="1972354">
                <a:moveTo>
                  <a:pt x="0" y="0"/>
                </a:moveTo>
                <a:lnTo>
                  <a:pt x="1972354" y="0"/>
                </a:lnTo>
                <a:lnTo>
                  <a:pt x="1972354" y="1997780"/>
                </a:lnTo>
                <a:lnTo>
                  <a:pt x="0" y="199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86350" y="5086350"/>
            <a:ext cx="510188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Encoding Categorical Variables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44411" y="5939155"/>
            <a:ext cx="5101887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Binary encoding for </a:t>
            </a: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Sex.</a:t>
            </a:r>
          </a:p>
          <a:p>
            <a:pPr algn="l" marL="518160" indent="-259080" lvl="1">
              <a:lnSpc>
                <a:spcPts val="4079"/>
              </a:lnSpc>
              <a:buFont typeface="Arial"/>
              <a:buChar char="•"/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One-hot encoding for </a:t>
            </a:r>
            <a:r>
              <a:rPr lang="en-US" b="true" sz="24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Embarked.</a:t>
            </a:r>
          </a:p>
          <a:p>
            <a:pPr algn="l">
              <a:lnSpc>
                <a:spcPts val="407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395441" y="2433837"/>
            <a:ext cx="4199589" cy="6426664"/>
            <a:chOff x="0" y="0"/>
            <a:chExt cx="1106064" cy="169261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6064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06064">
                  <a:moveTo>
                    <a:pt x="94018" y="0"/>
                  </a:moveTo>
                  <a:lnTo>
                    <a:pt x="1012046" y="0"/>
                  </a:lnTo>
                  <a:cubicBezTo>
                    <a:pt x="1036981" y="0"/>
                    <a:pt x="1060895" y="9905"/>
                    <a:pt x="1078527" y="27537"/>
                  </a:cubicBezTo>
                  <a:cubicBezTo>
                    <a:pt x="1096159" y="45169"/>
                    <a:pt x="1106064" y="69083"/>
                    <a:pt x="1106064" y="94018"/>
                  </a:cubicBezTo>
                  <a:lnTo>
                    <a:pt x="1106064" y="1598601"/>
                  </a:lnTo>
                  <a:cubicBezTo>
                    <a:pt x="1106064" y="1623536"/>
                    <a:pt x="1096159" y="1647450"/>
                    <a:pt x="1078527" y="1665082"/>
                  </a:cubicBezTo>
                  <a:cubicBezTo>
                    <a:pt x="1060895" y="1682714"/>
                    <a:pt x="1036981" y="1692619"/>
                    <a:pt x="1012046" y="1692619"/>
                  </a:cubicBezTo>
                  <a:lnTo>
                    <a:pt x="94018" y="1692619"/>
                  </a:lnTo>
                  <a:cubicBezTo>
                    <a:pt x="69083" y="1692619"/>
                    <a:pt x="45169" y="1682714"/>
                    <a:pt x="27537" y="1665082"/>
                  </a:cubicBezTo>
                  <a:cubicBezTo>
                    <a:pt x="9905" y="1647450"/>
                    <a:pt x="0" y="1623536"/>
                    <a:pt x="0" y="1598601"/>
                  </a:cubicBezTo>
                  <a:lnTo>
                    <a:pt x="0" y="94018"/>
                  </a:lnTo>
                  <a:cubicBezTo>
                    <a:pt x="0" y="69083"/>
                    <a:pt x="9905" y="45169"/>
                    <a:pt x="27537" y="27537"/>
                  </a:cubicBezTo>
                  <a:cubicBezTo>
                    <a:pt x="45169" y="9905"/>
                    <a:pt x="69083" y="0"/>
                    <a:pt x="94018" y="0"/>
                  </a:cubicBez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23825"/>
              <a:ext cx="1106064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448925" y="2792181"/>
            <a:ext cx="2226655" cy="2226655"/>
          </a:xfrm>
          <a:custGeom>
            <a:avLst/>
            <a:gdLst/>
            <a:ahLst/>
            <a:cxnLst/>
            <a:rect r="r" b="b" t="t" l="l"/>
            <a:pathLst>
              <a:path h="2226655" w="2226655">
                <a:moveTo>
                  <a:pt x="0" y="0"/>
                </a:moveTo>
                <a:lnTo>
                  <a:pt x="2226655" y="0"/>
                </a:lnTo>
                <a:lnTo>
                  <a:pt x="2226655" y="2226655"/>
                </a:lnTo>
                <a:lnTo>
                  <a:pt x="0" y="22266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852204" y="2433837"/>
            <a:ext cx="4199589" cy="6426664"/>
            <a:chOff x="0" y="0"/>
            <a:chExt cx="1106064" cy="169261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064" cy="1692619"/>
            </a:xfrm>
            <a:custGeom>
              <a:avLst/>
              <a:gdLst/>
              <a:ahLst/>
              <a:cxnLst/>
              <a:rect r="r" b="b" t="t" l="l"/>
              <a:pathLst>
                <a:path h="1692619" w="1106064">
                  <a:moveTo>
                    <a:pt x="94018" y="0"/>
                  </a:moveTo>
                  <a:lnTo>
                    <a:pt x="1012046" y="0"/>
                  </a:lnTo>
                  <a:cubicBezTo>
                    <a:pt x="1036981" y="0"/>
                    <a:pt x="1060895" y="9905"/>
                    <a:pt x="1078527" y="27537"/>
                  </a:cubicBezTo>
                  <a:cubicBezTo>
                    <a:pt x="1096159" y="45169"/>
                    <a:pt x="1106064" y="69083"/>
                    <a:pt x="1106064" y="94018"/>
                  </a:cubicBezTo>
                  <a:lnTo>
                    <a:pt x="1106064" y="1598601"/>
                  </a:lnTo>
                  <a:cubicBezTo>
                    <a:pt x="1106064" y="1623536"/>
                    <a:pt x="1096159" y="1647450"/>
                    <a:pt x="1078527" y="1665082"/>
                  </a:cubicBezTo>
                  <a:cubicBezTo>
                    <a:pt x="1060895" y="1682714"/>
                    <a:pt x="1036981" y="1692619"/>
                    <a:pt x="1012046" y="1692619"/>
                  </a:cubicBezTo>
                  <a:lnTo>
                    <a:pt x="94018" y="1692619"/>
                  </a:lnTo>
                  <a:cubicBezTo>
                    <a:pt x="69083" y="1692619"/>
                    <a:pt x="45169" y="1682714"/>
                    <a:pt x="27537" y="1665082"/>
                  </a:cubicBezTo>
                  <a:cubicBezTo>
                    <a:pt x="9905" y="1647450"/>
                    <a:pt x="0" y="1623536"/>
                    <a:pt x="0" y="1598601"/>
                  </a:cubicBezTo>
                  <a:lnTo>
                    <a:pt x="0" y="94018"/>
                  </a:lnTo>
                  <a:cubicBezTo>
                    <a:pt x="0" y="69083"/>
                    <a:pt x="9905" y="45169"/>
                    <a:pt x="27537" y="27537"/>
                  </a:cubicBezTo>
                  <a:cubicBezTo>
                    <a:pt x="45169" y="9905"/>
                    <a:pt x="69083" y="0"/>
                    <a:pt x="94018" y="0"/>
                  </a:cubicBezTo>
                  <a:close/>
                </a:path>
              </a:pathLst>
            </a:custGeom>
            <a:solidFill>
              <a:srgbClr val="A9BEC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23825"/>
              <a:ext cx="1106064" cy="1816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064936" y="2613009"/>
            <a:ext cx="1765442" cy="2322951"/>
          </a:xfrm>
          <a:custGeom>
            <a:avLst/>
            <a:gdLst/>
            <a:ahLst/>
            <a:cxnLst/>
            <a:rect r="r" b="b" t="t" l="l"/>
            <a:pathLst>
              <a:path h="2322951" w="1765442">
                <a:moveTo>
                  <a:pt x="0" y="0"/>
                </a:moveTo>
                <a:lnTo>
                  <a:pt x="1765443" y="0"/>
                </a:lnTo>
                <a:lnTo>
                  <a:pt x="1765443" y="2322951"/>
                </a:lnTo>
                <a:lnTo>
                  <a:pt x="0" y="23229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28700" y="599709"/>
            <a:ext cx="811530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Preprocessing Steps</a:t>
            </a: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53475" y="5086350"/>
            <a:ext cx="51018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 Selection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53475" y="5735434"/>
            <a:ext cx="5101887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Dropped irrelevant features: </a:t>
            </a:r>
            <a:r>
              <a:rPr lang="en-US" sz="24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PassengerId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24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Name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24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Cabin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995079" y="5120640"/>
            <a:ext cx="5101887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Feature Scaling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95079" y="5735434"/>
            <a:ext cx="4056714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Standardized numerical features: </a:t>
            </a:r>
            <a:r>
              <a:rPr lang="en-US" sz="24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Age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, </a:t>
            </a:r>
            <a:r>
              <a:rPr lang="en-US" sz="24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Fare</a:t>
            </a: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9093" y="1584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XGBoost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512636"/>
            <a:ext cx="6938067" cy="195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33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Why XGBoost?</a:t>
            </a:r>
          </a:p>
          <a:p>
            <a:pPr algn="l">
              <a:lnSpc>
                <a:spcPts val="5779"/>
              </a:lnSpc>
            </a:pPr>
            <a:r>
              <a:rPr lang="en-US" sz="33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The Chosen Model for Excellence.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093893" y="15849"/>
            <a:ext cx="4194107" cy="10271151"/>
            <a:chOff x="0" y="0"/>
            <a:chExt cx="1104621" cy="27051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621" cy="2705159"/>
            </a:xfrm>
            <a:custGeom>
              <a:avLst/>
              <a:gdLst/>
              <a:ahLst/>
              <a:cxnLst/>
              <a:rect r="r" b="b" t="t" l="l"/>
              <a:pathLst>
                <a:path h="2705159" w="1104621">
                  <a:moveTo>
                    <a:pt x="0" y="0"/>
                  </a:moveTo>
                  <a:lnTo>
                    <a:pt x="1104621" y="0"/>
                  </a:lnTo>
                  <a:lnTo>
                    <a:pt x="1104621" y="2705159"/>
                  </a:lnTo>
                  <a:lnTo>
                    <a:pt x="0" y="2705159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104621" cy="27527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8974931"/>
            <a:ext cx="1905000" cy="283369"/>
          </a:xfrm>
          <a:custGeom>
            <a:avLst/>
            <a:gdLst/>
            <a:ahLst/>
            <a:cxnLst/>
            <a:rect r="r" b="b" t="t" l="l"/>
            <a:pathLst>
              <a:path h="283369" w="1905000">
                <a:moveTo>
                  <a:pt x="0" y="0"/>
                </a:moveTo>
                <a:lnTo>
                  <a:pt x="1905000" y="0"/>
                </a:lnTo>
                <a:lnTo>
                  <a:pt x="1905000" y="283369"/>
                </a:lnTo>
                <a:lnTo>
                  <a:pt x="0" y="28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9093" y="1584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599709"/>
            <a:ext cx="93902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XGBoost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800350"/>
            <a:ext cx="6938067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Overview:</a:t>
            </a: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l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XGBoost, or Extreme Gradient Boosting, is a powerful algorithm that combines decision trees to improve accuracy. With features like regularization, tree pruning, and parallel computing, it excels in handling complex prediction tasks efficiently.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28672" y="3248867"/>
            <a:ext cx="2417376" cy="2417376"/>
          </a:xfrm>
          <a:custGeom>
            <a:avLst/>
            <a:gdLst/>
            <a:ahLst/>
            <a:cxnLst/>
            <a:rect r="r" b="b" t="t" l="l"/>
            <a:pathLst>
              <a:path h="2417376" w="2417376">
                <a:moveTo>
                  <a:pt x="0" y="0"/>
                </a:moveTo>
                <a:lnTo>
                  <a:pt x="2417376" y="0"/>
                </a:lnTo>
                <a:lnTo>
                  <a:pt x="2417376" y="2417376"/>
                </a:lnTo>
                <a:lnTo>
                  <a:pt x="0" y="2417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66623" y="3248867"/>
            <a:ext cx="2417376" cy="2417376"/>
          </a:xfrm>
          <a:custGeom>
            <a:avLst/>
            <a:gdLst/>
            <a:ahLst/>
            <a:cxnLst/>
            <a:rect r="r" b="b" t="t" l="l"/>
            <a:pathLst>
              <a:path h="2417376" w="2417376">
                <a:moveTo>
                  <a:pt x="0" y="0"/>
                </a:moveTo>
                <a:lnTo>
                  <a:pt x="2417376" y="0"/>
                </a:lnTo>
                <a:lnTo>
                  <a:pt x="2417376" y="2417376"/>
                </a:lnTo>
                <a:lnTo>
                  <a:pt x="0" y="2417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87996" y="3248867"/>
            <a:ext cx="2417376" cy="2417376"/>
          </a:xfrm>
          <a:custGeom>
            <a:avLst/>
            <a:gdLst/>
            <a:ahLst/>
            <a:cxnLst/>
            <a:rect r="r" b="b" t="t" l="l"/>
            <a:pathLst>
              <a:path h="2417376" w="2417376">
                <a:moveTo>
                  <a:pt x="0" y="0"/>
                </a:moveTo>
                <a:lnTo>
                  <a:pt x="2417376" y="0"/>
                </a:lnTo>
                <a:lnTo>
                  <a:pt x="2417376" y="2417376"/>
                </a:lnTo>
                <a:lnTo>
                  <a:pt x="0" y="2417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99709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XGBoost Advantages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66651" y="6139317"/>
            <a:ext cx="5017320" cy="117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6"/>
              </a:lnSpc>
              <a:spcBef>
                <a:spcPct val="0"/>
              </a:spcBef>
            </a:pPr>
            <a:r>
              <a:rPr lang="en-US" sz="341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Relies on error correction at each step.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1980" y="6139317"/>
            <a:ext cx="5017320" cy="177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6"/>
              </a:lnSpc>
              <a:spcBef>
                <a:spcPct val="0"/>
              </a:spcBef>
            </a:pPr>
            <a:r>
              <a:rPr lang="en-US" sz="341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Supports missing data and enables parallel processing.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42207"/>
            <a:ext cx="5017320" cy="117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6"/>
              </a:lnSpc>
              <a:spcBef>
                <a:spcPct val="0"/>
              </a:spcBef>
            </a:pPr>
            <a:r>
              <a:rPr lang="en-US" sz="341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High efficiency in prediction.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4099486"/>
            <a:chOff x="0" y="0"/>
            <a:chExt cx="4816593" cy="1079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079700"/>
            </a:xfrm>
            <a:custGeom>
              <a:avLst/>
              <a:gdLst/>
              <a:ahLst/>
              <a:cxnLst/>
              <a:rect r="r" b="b" t="t" l="l"/>
              <a:pathLst>
                <a:path h="107970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79700"/>
                  </a:lnTo>
                  <a:lnTo>
                    <a:pt x="0" y="1079700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127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9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5897880" y="8681205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52972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28672" y="3248867"/>
            <a:ext cx="2417376" cy="2417376"/>
          </a:xfrm>
          <a:custGeom>
            <a:avLst/>
            <a:gdLst/>
            <a:ahLst/>
            <a:cxnLst/>
            <a:rect r="r" b="b" t="t" l="l"/>
            <a:pathLst>
              <a:path h="2417376" w="2417376">
                <a:moveTo>
                  <a:pt x="0" y="0"/>
                </a:moveTo>
                <a:lnTo>
                  <a:pt x="2417376" y="0"/>
                </a:lnTo>
                <a:lnTo>
                  <a:pt x="2417376" y="2417376"/>
                </a:lnTo>
                <a:lnTo>
                  <a:pt x="0" y="2417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566623" y="3248867"/>
            <a:ext cx="2417376" cy="2417376"/>
          </a:xfrm>
          <a:custGeom>
            <a:avLst/>
            <a:gdLst/>
            <a:ahLst/>
            <a:cxnLst/>
            <a:rect r="r" b="b" t="t" l="l"/>
            <a:pathLst>
              <a:path h="2417376" w="2417376">
                <a:moveTo>
                  <a:pt x="0" y="0"/>
                </a:moveTo>
                <a:lnTo>
                  <a:pt x="2417376" y="0"/>
                </a:lnTo>
                <a:lnTo>
                  <a:pt x="2417376" y="2417376"/>
                </a:lnTo>
                <a:lnTo>
                  <a:pt x="0" y="2417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387996" y="3248867"/>
            <a:ext cx="2417376" cy="2417376"/>
          </a:xfrm>
          <a:custGeom>
            <a:avLst/>
            <a:gdLst/>
            <a:ahLst/>
            <a:cxnLst/>
            <a:rect r="r" b="b" t="t" l="l"/>
            <a:pathLst>
              <a:path h="2417376" w="2417376">
                <a:moveTo>
                  <a:pt x="0" y="0"/>
                </a:moveTo>
                <a:lnTo>
                  <a:pt x="2417376" y="0"/>
                </a:lnTo>
                <a:lnTo>
                  <a:pt x="2417376" y="2417376"/>
                </a:lnTo>
                <a:lnTo>
                  <a:pt x="0" y="2417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599709"/>
            <a:ext cx="9914964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XGBoost limitaions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66651" y="6139317"/>
            <a:ext cx="5017320" cy="117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6"/>
              </a:lnSpc>
              <a:spcBef>
                <a:spcPct val="0"/>
              </a:spcBef>
            </a:pPr>
            <a:r>
              <a:rPr lang="en-US" sz="341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Sensitivity to hyperparameter tuning.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41980" y="6139317"/>
            <a:ext cx="5226591" cy="1770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6"/>
              </a:lnSpc>
              <a:spcBef>
                <a:spcPct val="0"/>
              </a:spcBef>
            </a:pPr>
            <a:r>
              <a:rPr lang="en-US" sz="341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Dependency on the quality of textual features (e.g., text content)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142207"/>
            <a:ext cx="5017320" cy="1170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6"/>
              </a:lnSpc>
              <a:spcBef>
                <a:spcPct val="0"/>
              </a:spcBef>
            </a:pPr>
            <a:r>
              <a:rPr lang="en-US" sz="341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High computational cost of XGBoost.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18416"/>
            <a:ext cx="7853082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Exploratory Data Analysis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925470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122760" y="10668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369286" y="1413601"/>
            <a:ext cx="7890014" cy="3340370"/>
          </a:xfrm>
          <a:custGeom>
            <a:avLst/>
            <a:gdLst/>
            <a:ahLst/>
            <a:cxnLst/>
            <a:rect r="r" b="b" t="t" l="l"/>
            <a:pathLst>
              <a:path h="3340370" w="7890014">
                <a:moveTo>
                  <a:pt x="0" y="0"/>
                </a:moveTo>
                <a:lnTo>
                  <a:pt x="7890014" y="0"/>
                </a:lnTo>
                <a:lnTo>
                  <a:pt x="7890014" y="3340370"/>
                </a:lnTo>
                <a:lnTo>
                  <a:pt x="0" y="33403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369286" y="5021147"/>
            <a:ext cx="9934415" cy="28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2134" b="tru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FIGURE 1: CLASS DISTRIBUTION BEFORE AND AFTER BALANCING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322717" y="5608753"/>
            <a:ext cx="4046164" cy="3295171"/>
          </a:xfrm>
          <a:custGeom>
            <a:avLst/>
            <a:gdLst/>
            <a:ahLst/>
            <a:cxnLst/>
            <a:rect r="r" b="b" t="t" l="l"/>
            <a:pathLst>
              <a:path h="3295171" w="4046164">
                <a:moveTo>
                  <a:pt x="0" y="0"/>
                </a:moveTo>
                <a:lnTo>
                  <a:pt x="4046163" y="0"/>
                </a:lnTo>
                <a:lnTo>
                  <a:pt x="4046163" y="3295172"/>
                </a:lnTo>
                <a:lnTo>
                  <a:pt x="0" y="3295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68880" y="5608753"/>
            <a:ext cx="4029142" cy="3295171"/>
          </a:xfrm>
          <a:custGeom>
            <a:avLst/>
            <a:gdLst/>
            <a:ahLst/>
            <a:cxnLst/>
            <a:rect r="r" b="b" t="t" l="l"/>
            <a:pathLst>
              <a:path h="3295171" w="4029142">
                <a:moveTo>
                  <a:pt x="0" y="0"/>
                </a:moveTo>
                <a:lnTo>
                  <a:pt x="4029143" y="0"/>
                </a:lnTo>
                <a:lnTo>
                  <a:pt x="4029143" y="3295172"/>
                </a:lnTo>
                <a:lnTo>
                  <a:pt x="0" y="3295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69286" y="9170625"/>
            <a:ext cx="5092763" cy="28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0"/>
              </a:lnSpc>
            </a:pPr>
            <a:r>
              <a:rPr lang="en-US" sz="2120" b="true">
                <a:solidFill>
                  <a:srgbClr val="0F4662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FIGURE2 :PERFORMANCE COMPARISON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75244" y="959948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49761" y="0"/>
            <a:ext cx="9838239" cy="10287000"/>
            <a:chOff x="0" y="0"/>
            <a:chExt cx="2591141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91141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91141">
                  <a:moveTo>
                    <a:pt x="0" y="0"/>
                  </a:moveTo>
                  <a:lnTo>
                    <a:pt x="2591141" y="0"/>
                  </a:lnTo>
                  <a:lnTo>
                    <a:pt x="259114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DBE5E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591141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618416"/>
            <a:ext cx="7853082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Training and Hyperparameter Tuning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700" y="9254704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122760" y="10668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275244" y="959948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594658" y="1499712"/>
            <a:ext cx="9693342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  <a:spcBef>
                <a:spcPct val="0"/>
              </a:spcBef>
            </a:pPr>
            <a:r>
              <a:rPr lang="en-US" b="true" sz="26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Initial Training:</a:t>
            </a:r>
          </a:p>
          <a:p>
            <a:pPr algn="ctr" marL="582928" indent="-291464" lvl="1">
              <a:lnSpc>
                <a:spcPts val="458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Default XGBoost parameters used.</a:t>
            </a:r>
          </a:p>
          <a:p>
            <a:pPr algn="ctr" marL="582928" indent="-291464" lvl="1">
              <a:lnSpc>
                <a:spcPts val="4589"/>
              </a:lnSpc>
              <a:spcBef>
                <a:spcPct val="0"/>
              </a:spcBef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Achieved an accuracy of 79% on the train set.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4658" y="3736037"/>
            <a:ext cx="9693342" cy="402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Hyperparameter Tuning:</a:t>
            </a:r>
          </a:p>
          <a:p>
            <a:pPr algn="ctr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Used GridSearchCV to optimize key parameters: colsample_bytree, learning_ratem max_depthm min_child_weight, reg_alpha, reg_lambda, subsample</a:t>
            </a:r>
          </a:p>
          <a:p>
            <a:pPr algn="ctr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Tuned model achieved an accuracy of 81% after optimization. </a:t>
            </a:r>
          </a:p>
          <a:p>
            <a:pPr algn="ctr">
              <a:lnSpc>
                <a:spcPts val="458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449761" y="7563379"/>
            <a:ext cx="9838239" cy="228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Objective:</a:t>
            </a: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ctr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Maximize predictive performance while preventing overfitting</a:t>
            </a:r>
            <a:r>
              <a:rPr lang="en-US" b="true" sz="26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algn="ctr">
              <a:lnSpc>
                <a:spcPts val="45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0221" y="3809065"/>
            <a:ext cx="5099316" cy="4748959"/>
            <a:chOff x="0" y="0"/>
            <a:chExt cx="1343030" cy="12507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3030" cy="1250755"/>
            </a:xfrm>
            <a:custGeom>
              <a:avLst/>
              <a:gdLst/>
              <a:ahLst/>
              <a:cxnLst/>
              <a:rect r="r" b="b" t="t" l="l"/>
              <a:pathLst>
                <a:path h="1250755" w="1343030">
                  <a:moveTo>
                    <a:pt x="77430" y="0"/>
                  </a:moveTo>
                  <a:lnTo>
                    <a:pt x="1265600" y="0"/>
                  </a:lnTo>
                  <a:cubicBezTo>
                    <a:pt x="1286136" y="0"/>
                    <a:pt x="1305830" y="8158"/>
                    <a:pt x="1320351" y="22679"/>
                  </a:cubicBezTo>
                  <a:cubicBezTo>
                    <a:pt x="1334872" y="37199"/>
                    <a:pt x="1343030" y="56894"/>
                    <a:pt x="1343030" y="77430"/>
                  </a:cubicBezTo>
                  <a:lnTo>
                    <a:pt x="1343030" y="1173325"/>
                  </a:lnTo>
                  <a:cubicBezTo>
                    <a:pt x="1343030" y="1193861"/>
                    <a:pt x="1334872" y="1213555"/>
                    <a:pt x="1320351" y="1228076"/>
                  </a:cubicBezTo>
                  <a:cubicBezTo>
                    <a:pt x="1305830" y="1242597"/>
                    <a:pt x="1286136" y="1250755"/>
                    <a:pt x="1265600" y="1250755"/>
                  </a:cubicBezTo>
                  <a:lnTo>
                    <a:pt x="77430" y="1250755"/>
                  </a:lnTo>
                  <a:cubicBezTo>
                    <a:pt x="56894" y="1250755"/>
                    <a:pt x="37199" y="1242597"/>
                    <a:pt x="22679" y="1228076"/>
                  </a:cubicBezTo>
                  <a:cubicBezTo>
                    <a:pt x="8158" y="1213555"/>
                    <a:pt x="0" y="1193861"/>
                    <a:pt x="0" y="1173325"/>
                  </a:cubicBezTo>
                  <a:lnTo>
                    <a:pt x="0" y="77430"/>
                  </a:lnTo>
                  <a:cubicBezTo>
                    <a:pt x="0" y="56894"/>
                    <a:pt x="8158" y="37199"/>
                    <a:pt x="22679" y="22679"/>
                  </a:cubicBezTo>
                  <a:cubicBezTo>
                    <a:pt x="37199" y="8158"/>
                    <a:pt x="56894" y="0"/>
                    <a:pt x="7743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343030" cy="137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99709"/>
            <a:ext cx="10326591" cy="221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Model Comparison with Benchmarks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5899" y="4001248"/>
            <a:ext cx="4487962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Algorithms Tested:</a:t>
            </a:r>
          </a:p>
          <a:p>
            <a:pPr algn="l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XGBoost, K-Nearest Neighbors (KNN), Decision Tree.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454032" y="3809065"/>
            <a:ext cx="5005387" cy="4748959"/>
            <a:chOff x="0" y="0"/>
            <a:chExt cx="1318291" cy="12507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8291" cy="1250755"/>
            </a:xfrm>
            <a:custGeom>
              <a:avLst/>
              <a:gdLst/>
              <a:ahLst/>
              <a:cxnLst/>
              <a:rect r="r" b="b" t="t" l="l"/>
              <a:pathLst>
                <a:path h="1250755" w="1318291">
                  <a:moveTo>
                    <a:pt x="78883" y="0"/>
                  </a:moveTo>
                  <a:lnTo>
                    <a:pt x="1239409" y="0"/>
                  </a:lnTo>
                  <a:cubicBezTo>
                    <a:pt x="1260330" y="0"/>
                    <a:pt x="1280394" y="8311"/>
                    <a:pt x="1295187" y="23104"/>
                  </a:cubicBezTo>
                  <a:cubicBezTo>
                    <a:pt x="1309980" y="37898"/>
                    <a:pt x="1318291" y="57962"/>
                    <a:pt x="1318291" y="78883"/>
                  </a:cubicBezTo>
                  <a:lnTo>
                    <a:pt x="1318291" y="1171872"/>
                  </a:lnTo>
                  <a:cubicBezTo>
                    <a:pt x="1318291" y="1215438"/>
                    <a:pt x="1282974" y="1250755"/>
                    <a:pt x="1239409" y="1250755"/>
                  </a:cubicBezTo>
                  <a:lnTo>
                    <a:pt x="78883" y="1250755"/>
                  </a:lnTo>
                  <a:cubicBezTo>
                    <a:pt x="57962" y="1250755"/>
                    <a:pt x="37898" y="1242444"/>
                    <a:pt x="23104" y="1227650"/>
                  </a:cubicBezTo>
                  <a:cubicBezTo>
                    <a:pt x="8311" y="1212857"/>
                    <a:pt x="0" y="1192793"/>
                    <a:pt x="0" y="1171872"/>
                  </a:cubicBezTo>
                  <a:lnTo>
                    <a:pt x="0" y="78883"/>
                  </a:lnTo>
                  <a:cubicBezTo>
                    <a:pt x="0" y="57962"/>
                    <a:pt x="8311" y="37898"/>
                    <a:pt x="23104" y="23104"/>
                  </a:cubicBezTo>
                  <a:cubicBezTo>
                    <a:pt x="37898" y="8311"/>
                    <a:pt x="57962" y="0"/>
                    <a:pt x="7888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3825"/>
              <a:ext cx="1318291" cy="137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165946" y="3809065"/>
            <a:ext cx="5095886" cy="4748959"/>
            <a:chOff x="0" y="0"/>
            <a:chExt cx="1342126" cy="12507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2126" cy="1250755"/>
            </a:xfrm>
            <a:custGeom>
              <a:avLst/>
              <a:gdLst/>
              <a:ahLst/>
              <a:cxnLst/>
              <a:rect r="r" b="b" t="t" l="l"/>
              <a:pathLst>
                <a:path h="1250755" w="1342126">
                  <a:moveTo>
                    <a:pt x="77482" y="0"/>
                  </a:moveTo>
                  <a:lnTo>
                    <a:pt x="1264645" y="0"/>
                  </a:lnTo>
                  <a:cubicBezTo>
                    <a:pt x="1285194" y="0"/>
                    <a:pt x="1304902" y="8163"/>
                    <a:pt x="1319432" y="22694"/>
                  </a:cubicBezTo>
                  <a:cubicBezTo>
                    <a:pt x="1333963" y="37225"/>
                    <a:pt x="1342126" y="56932"/>
                    <a:pt x="1342126" y="77482"/>
                  </a:cubicBezTo>
                  <a:lnTo>
                    <a:pt x="1342126" y="1173273"/>
                  </a:lnTo>
                  <a:cubicBezTo>
                    <a:pt x="1342126" y="1216065"/>
                    <a:pt x="1307436" y="1250755"/>
                    <a:pt x="1264645" y="1250755"/>
                  </a:cubicBezTo>
                  <a:lnTo>
                    <a:pt x="77482" y="1250755"/>
                  </a:lnTo>
                  <a:cubicBezTo>
                    <a:pt x="34690" y="1250755"/>
                    <a:pt x="0" y="1216065"/>
                    <a:pt x="0" y="1173273"/>
                  </a:cubicBezTo>
                  <a:lnTo>
                    <a:pt x="0" y="77482"/>
                  </a:lnTo>
                  <a:cubicBezTo>
                    <a:pt x="0" y="34690"/>
                    <a:pt x="34690" y="0"/>
                    <a:pt x="774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3825"/>
              <a:ext cx="1342126" cy="1374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712745" y="4001248"/>
            <a:ext cx="4487962" cy="280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Evaluation Metrics:</a:t>
            </a: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l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Accuracy, Precision, Recall, F1 Score.</a:t>
            </a:r>
          </a:p>
          <a:p>
            <a:pPr algn="l">
              <a:lnSpc>
                <a:spcPts val="4589"/>
              </a:lnSpc>
            </a:pPr>
          </a:p>
          <a:p>
            <a:pPr algn="l" marL="0" indent="0" lvl="0">
              <a:lnSpc>
                <a:spcPts val="407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355327" y="4001248"/>
            <a:ext cx="5089465" cy="4447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27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Results:</a:t>
            </a:r>
          </a:p>
          <a:p>
            <a:pPr algn="l">
              <a:lnSpc>
                <a:spcPts val="4590"/>
              </a:lnSpc>
            </a:pPr>
            <a:r>
              <a:rPr lang="en-US" sz="2700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XGBoost outperformed with the highest accuracy 81% and balanced precision/recall. </a:t>
            </a:r>
          </a:p>
          <a:p>
            <a:pPr algn="l">
              <a:lnSpc>
                <a:spcPts val="4590"/>
              </a:lnSpc>
            </a:pPr>
            <a:r>
              <a:rPr lang="en-US" sz="27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KNN and Decision Tree lagged due to overfitting and lack of boosting mechanisms.</a:t>
            </a:r>
          </a:p>
          <a:p>
            <a:pPr algn="l" marL="0" indent="0" lvl="0">
              <a:lnSpc>
                <a:spcPts val="3083"/>
              </a:lnSpc>
            </a:pPr>
          </a:p>
        </p:txBody>
      </p:sp>
      <p:sp>
        <p:nvSpPr>
          <p:cNvPr name="AutoShape 15" id="15"/>
          <p:cNvSpPr/>
          <p:nvPr/>
        </p:nvSpPr>
        <p:spPr>
          <a:xfrm>
            <a:off x="5659538" y="92964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304001" y="9645985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26441" y="400886"/>
            <a:ext cx="4682808" cy="3056597"/>
          </a:xfrm>
          <a:custGeom>
            <a:avLst/>
            <a:gdLst/>
            <a:ahLst/>
            <a:cxnLst/>
            <a:rect r="r" b="b" t="t" l="l"/>
            <a:pathLst>
              <a:path h="3056597" w="4682808">
                <a:moveTo>
                  <a:pt x="0" y="0"/>
                </a:moveTo>
                <a:lnTo>
                  <a:pt x="4682808" y="0"/>
                </a:lnTo>
                <a:lnTo>
                  <a:pt x="4682808" y="3056596"/>
                </a:lnTo>
                <a:lnTo>
                  <a:pt x="0" y="3056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617009" y="92964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303264" y="959297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99709"/>
            <a:ext cx="115375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76450"/>
            <a:ext cx="5904009" cy="164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Best Model:</a:t>
            </a: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</a:p>
          <a:p>
            <a:pPr algn="l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Tuned XGBoost.</a:t>
            </a:r>
          </a:p>
          <a:p>
            <a:pPr algn="l" marL="0" indent="0" lvl="0">
              <a:lnSpc>
                <a:spcPts val="4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756156"/>
            <a:ext cx="3666431" cy="286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b="true" sz="26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Performance Metrics:</a:t>
            </a: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Accuracy: 81%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Precision: 82%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Recall: 89%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F1 Score: 85%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147863"/>
            <a:ext cx="10615315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b="true" sz="26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Key Insights: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Model effectively predicts survival rate.</a:t>
            </a:r>
          </a:p>
          <a:p>
            <a:pPr algn="l">
              <a:lnSpc>
                <a:spcPts val="4589"/>
              </a:lnSpc>
              <a:spcBef>
                <a:spcPct val="0"/>
              </a:spcBef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Consistent performance across training, validate and test datasets.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17009" y="92964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303264" y="9592973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7" y="0"/>
                </a:lnTo>
                <a:lnTo>
                  <a:pt x="1679997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859031"/>
            <a:ext cx="7397784" cy="4734582"/>
          </a:xfrm>
          <a:custGeom>
            <a:avLst/>
            <a:gdLst/>
            <a:ahLst/>
            <a:cxnLst/>
            <a:rect r="r" b="b" t="t" l="l"/>
            <a:pathLst>
              <a:path h="4734582" w="7397784">
                <a:moveTo>
                  <a:pt x="0" y="0"/>
                </a:moveTo>
                <a:lnTo>
                  <a:pt x="7397784" y="0"/>
                </a:lnTo>
                <a:lnTo>
                  <a:pt x="7397784" y="4734582"/>
                </a:lnTo>
                <a:lnTo>
                  <a:pt x="0" y="4734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26484" y="2859031"/>
            <a:ext cx="7470741" cy="4734582"/>
          </a:xfrm>
          <a:custGeom>
            <a:avLst/>
            <a:gdLst/>
            <a:ahLst/>
            <a:cxnLst/>
            <a:rect r="r" b="b" t="t" l="l"/>
            <a:pathLst>
              <a:path h="4734582" w="7470741">
                <a:moveTo>
                  <a:pt x="0" y="0"/>
                </a:moveTo>
                <a:lnTo>
                  <a:pt x="7470741" y="0"/>
                </a:lnTo>
                <a:lnTo>
                  <a:pt x="7470741" y="4734582"/>
                </a:lnTo>
                <a:lnTo>
                  <a:pt x="0" y="4734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99709"/>
            <a:ext cx="11537525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Results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085975"/>
            <a:ext cx="941511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9"/>
              </a:lnSpc>
            </a:pPr>
            <a:r>
              <a:rPr lang="en-US" sz="2400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Overfitting Plot for XGBoost Bafore And After Tuning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99709"/>
            <a:ext cx="11534821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Future Improvements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93151" y="3374900"/>
            <a:ext cx="12701697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Incorporate Ensemble Methods:</a:t>
            </a:r>
          </a:p>
          <a:p>
            <a:pPr algn="ctr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Combine models like Random Forest, Gradient Boosting, and XGBoost for better accuracy.</a:t>
            </a:r>
          </a:p>
          <a:p>
            <a:pPr algn="ctr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Address Missing Data:</a:t>
            </a:r>
          </a:p>
          <a:p>
            <a:pPr algn="ctr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Use advanced imputation techniques for missing Age and Cabin.</a:t>
            </a:r>
          </a:p>
          <a:p>
            <a:pPr algn="ctr">
              <a:lnSpc>
                <a:spcPts val="4589"/>
              </a:lnSpc>
            </a:pPr>
            <a:r>
              <a:rPr lang="en-US" sz="2699" b="true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Explore Deep Learning:</a:t>
            </a:r>
          </a:p>
          <a:p>
            <a:pPr algn="ctr">
              <a:lnSpc>
                <a:spcPts val="4589"/>
              </a:lnSpc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Apply neural networks for non-linear relationships in the data.</a:t>
            </a:r>
          </a:p>
          <a:p>
            <a:pPr algn="ctr" marL="0" indent="0" lvl="0">
              <a:lnSpc>
                <a:spcPts val="4079"/>
              </a:lnSpc>
            </a:pPr>
          </a:p>
        </p:txBody>
      </p:sp>
      <p:sp>
        <p:nvSpPr>
          <p:cNvPr name="AutoShape 4" id="4"/>
          <p:cNvSpPr/>
          <p:nvPr/>
        </p:nvSpPr>
        <p:spPr>
          <a:xfrm>
            <a:off x="5897880" y="3276278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5897880" y="8346951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2470557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04001" y="8763604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0651" y="0"/>
            <a:ext cx="4627349" cy="10287000"/>
            <a:chOff x="0" y="0"/>
            <a:chExt cx="121872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87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218726">
                  <a:moveTo>
                    <a:pt x="0" y="0"/>
                  </a:moveTo>
                  <a:lnTo>
                    <a:pt x="1218726" y="0"/>
                  </a:lnTo>
                  <a:lnTo>
                    <a:pt x="12187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994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8726" cy="28331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99709"/>
            <a:ext cx="57028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96111"/>
            <a:ext cx="11638481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Successfully predicted Titanic survival outcomes.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XGBoost proved to be the best-performing model, achieving 81% accuracy.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The project demonstrates the power of machine learning in improving customer support strategies.</a:t>
            </a:r>
          </a:p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Future enhancements can further refine predictions and scalability.</a:t>
            </a:r>
          </a:p>
          <a:p>
            <a:pPr algn="l">
              <a:lnSpc>
                <a:spcPts val="4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565353"/>
            <a:ext cx="5702843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59"/>
              </a:lnSpc>
              <a:spcBef>
                <a:spcPct val="0"/>
              </a:spcBef>
            </a:pPr>
            <a:r>
              <a:rPr lang="en-US" b="true" sz="6399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References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245" y="7119117"/>
            <a:ext cx="12674499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8" indent="-291464" lvl="1">
              <a:lnSpc>
                <a:spcPts val="4589"/>
              </a:lnSpc>
              <a:buFont typeface="Arial"/>
              <a:buChar char="•"/>
            </a:pPr>
            <a:r>
              <a:rPr lang="en-US" b="true" sz="26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Dataset:</a:t>
            </a: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Kaggle - Titanic: Machine Learning from Disaster</a:t>
            </a:r>
          </a:p>
          <a:p>
            <a:pPr algn="l" marL="582928" indent="-291464" lvl="1">
              <a:lnSpc>
                <a:spcPts val="45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99">
                <a:solidFill>
                  <a:srgbClr val="0F46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Methodology</a:t>
            </a: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: </a:t>
            </a:r>
            <a:r>
              <a:rPr lang="en-US" sz="26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  <a:hlinkClick r:id="rId2" tooltip="https://xgboost.readthedocs.io/en/stable/"/>
              </a:rPr>
              <a:t>XGBoost</a:t>
            </a: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lang="en-US" sz="2699" u="sng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  <a:hlinkClick r:id="rId3" tooltip="https://scikit-learn.org/stable/"/>
              </a:rPr>
              <a:t>Scikit-Learn Documentation</a:t>
            </a:r>
            <a:r>
              <a:rPr lang="en-US" sz="2699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for Machine Learning.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42710" y="2380697"/>
            <a:ext cx="11402580" cy="318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009"/>
              </a:lnSpc>
              <a:spcBef>
                <a:spcPct val="0"/>
              </a:spcBef>
            </a:pPr>
            <a:r>
              <a:rPr lang="en-US" b="true" sz="18577" i="true">
                <a:solidFill>
                  <a:srgbClr val="0F4662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5897880" y="1680278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304001" y="903750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900"/>
                </a:lnTo>
                <a:lnTo>
                  <a:pt x="0" y="249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5897880" y="9220200"/>
            <a:ext cx="6492240" cy="0"/>
          </a:xfrm>
          <a:prstGeom prst="line">
            <a:avLst/>
          </a:prstGeom>
          <a:ln cap="flat" w="76200">
            <a:solidFill>
              <a:srgbClr val="0F466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04001" y="9674358"/>
            <a:ext cx="1679997" cy="249900"/>
          </a:xfrm>
          <a:custGeom>
            <a:avLst/>
            <a:gdLst/>
            <a:ahLst/>
            <a:cxnLst/>
            <a:rect r="r" b="b" t="t" l="l"/>
            <a:pathLst>
              <a:path h="249900" w="1679997">
                <a:moveTo>
                  <a:pt x="0" y="0"/>
                </a:moveTo>
                <a:lnTo>
                  <a:pt x="1679998" y="0"/>
                </a:lnTo>
                <a:lnTo>
                  <a:pt x="1679998" y="249899"/>
                </a:lnTo>
                <a:lnTo>
                  <a:pt x="0" y="249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460010" y="5722126"/>
            <a:ext cx="3367980" cy="304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n-US" sz="20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Prepared by: </a:t>
            </a:r>
          </a:p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n-US" sz="20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Futoon Abuzaid - 2211275</a:t>
            </a:r>
          </a:p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n-US" sz="20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Selwan Halawani - 2210644</a:t>
            </a:r>
          </a:p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n-US" sz="20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 Albatool Al-Attas - 2210171</a:t>
            </a:r>
          </a:p>
          <a:p>
            <a:pPr algn="ctr">
              <a:lnSpc>
                <a:spcPts val="3505"/>
              </a:lnSpc>
              <a:spcBef>
                <a:spcPct val="0"/>
              </a:spcBef>
            </a:pPr>
          </a:p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n-US" sz="20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Instructor: Dr. Safaa Al-Safri</a:t>
            </a:r>
          </a:p>
          <a:p>
            <a:pPr algn="ctr">
              <a:lnSpc>
                <a:spcPts val="3505"/>
              </a:lnSpc>
              <a:spcBef>
                <a:spcPct val="0"/>
              </a:spcBef>
            </a:pPr>
            <a:r>
              <a:rPr lang="en-US" sz="2062">
                <a:solidFill>
                  <a:srgbClr val="0F4662"/>
                </a:solidFill>
                <a:latin typeface="Quicksand"/>
                <a:ea typeface="Quicksand"/>
                <a:cs typeface="Quicksand"/>
                <a:sym typeface="Quicksand"/>
              </a:rPr>
              <a:t>Semester: Fall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DAGXcPnni0w</dc:identifier>
  <dcterms:modified xsi:type="dcterms:W3CDTF">2011-08-01T06:04:30Z</dcterms:modified>
  <cp:revision>1</cp:revision>
  <dc:title>Presentation(Group 5)</dc:title>
</cp:coreProperties>
</file>